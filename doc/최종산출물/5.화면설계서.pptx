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3474720"/>
          </a:xfrm>
          <a:prstGeom prst="rect">
            <a:avLst/>
          </a:prstGeom>
          <a:solidFill>
            <a:srgbClr val="007AA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화면설계서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팀명 :  White Dog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4023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:  백병구  /  문정인  /  문성윤  /  김동건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2026. 04. 06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흐름도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099C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접속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71600" y="1115568"/>
            <a:ext cx="4572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828800" y="9144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099C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/ 회원가입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1115568"/>
            <a:ext cx="4572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474720" y="9144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099C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4572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120640" y="9144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099C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선택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15000" y="1325880"/>
            <a:ext cx="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657600" y="16459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2899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1645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운동하기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2899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1645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기록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0" y="16459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2899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1645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목표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847088"/>
            <a:ext cx="4572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309360" y="1847088"/>
            <a:ext cx="27432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715000" y="2057400"/>
            <a:ext cx="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743200" y="2743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0" y="2743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확인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0" y="2743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0" y="2743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업적 달성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2743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0" y="2743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0" y="2743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0" y="2743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55557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2743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관리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554480" y="2743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55557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554480" y="2743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멤버십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51960" y="2057400"/>
            <a:ext cx="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7178040" y="2057400"/>
            <a:ext cx="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182880" y="777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진입 흐름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15087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운동 흐름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0" y="2606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보상 흐름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내정보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0" y="384048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CC4444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40480" y="3840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완료 / 포인트 적립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77840" y="3154680"/>
            <a:ext cx="0" cy="685800"/>
          </a:xfrm>
          <a:prstGeom prst="line">
            <a:avLst/>
          </a:prstGeom>
          <a:noFill/>
          <a:ln w="15240">
            <a:solidFill>
              <a:srgbClr val="CC4444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457200"/>
          </a:xfrm>
          <a:prstGeom prst="rect">
            <a:avLst/>
          </a:prstGeom>
          <a:solidFill>
            <a:srgbClr val="0077B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운동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54864" cy="457200"/>
          </a:xfrm>
          <a:prstGeom prst="rect">
            <a:avLst/>
          </a:prstGeom>
          <a:solidFill>
            <a:srgbClr val="0077B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운동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1325880"/>
            <a:ext cx="0" cy="182880"/>
          </a:xfrm>
          <a:prstGeom prst="line">
            <a:avLst/>
          </a:prstGeom>
          <a:noFill/>
          <a:ln w="10160">
            <a:solidFill>
              <a:srgbClr val="0077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0312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03120"/>
            <a:ext cx="54864" cy="457200"/>
          </a:xfrm>
          <a:prstGeom prst="rect">
            <a:avLst/>
          </a:prstGeom>
          <a:solidFill>
            <a:srgbClr val="0077B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시작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51560" y="1325880"/>
            <a:ext cx="0" cy="777240"/>
          </a:xfrm>
          <a:prstGeom prst="line">
            <a:avLst/>
          </a:prstGeom>
          <a:noFill/>
          <a:ln w="10160">
            <a:solidFill>
              <a:srgbClr val="0077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868680"/>
            <a:ext cx="155448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29968" y="868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기록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75688" y="150876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75688" y="150876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2167128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내역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07208" y="1325880"/>
            <a:ext cx="0" cy="18288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5688" y="210312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75688" y="210312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2167128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제작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07208" y="1325880"/>
            <a:ext cx="0" cy="77724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5616" y="868680"/>
            <a:ext cx="1554480" cy="457200"/>
          </a:xfrm>
          <a:prstGeom prst="rect">
            <a:avLst/>
          </a:prstGeom>
          <a:solidFill>
            <a:srgbClr val="CC77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85616" y="868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보상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31336" y="150876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31336" y="1508760"/>
            <a:ext cx="54864" cy="457200"/>
          </a:xfrm>
          <a:prstGeom prst="rect">
            <a:avLst/>
          </a:prstGeom>
          <a:solidFill>
            <a:srgbClr val="CC7700"/>
          </a:solidFill>
          <a:ln/>
        </p:spPr>
      </p:sp>
      <p:sp>
        <p:nvSpPr>
          <p:cNvPr id="28" name="Text 26"/>
          <p:cNvSpPr/>
          <p:nvPr/>
        </p:nvSpPr>
        <p:spPr>
          <a:xfrm>
            <a:off x="3922776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62856" y="1325880"/>
            <a:ext cx="0" cy="182880"/>
          </a:xfrm>
          <a:prstGeom prst="line">
            <a:avLst/>
          </a:prstGeom>
          <a:noFill/>
          <a:ln w="10160">
            <a:solidFill>
              <a:srgbClr val="CC77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31336" y="210312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31336" y="2103120"/>
            <a:ext cx="54864" cy="457200"/>
          </a:xfrm>
          <a:prstGeom prst="rect">
            <a:avLst/>
          </a:prstGeom>
          <a:solidFill>
            <a:srgbClr val="CC7700"/>
          </a:solidFill>
          <a:ln/>
        </p:spPr>
      </p:sp>
      <p:sp>
        <p:nvSpPr>
          <p:cNvPr id="32" name="Text 30"/>
          <p:cNvSpPr/>
          <p:nvPr/>
        </p:nvSpPr>
        <p:spPr>
          <a:xfrm>
            <a:off x="3922776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62856" y="1325880"/>
            <a:ext cx="0" cy="777240"/>
          </a:xfrm>
          <a:prstGeom prst="line">
            <a:avLst/>
          </a:prstGeom>
          <a:noFill/>
          <a:ln w="10160">
            <a:solidFill>
              <a:srgbClr val="CC77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31336" y="269748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31336" y="2697480"/>
            <a:ext cx="54864" cy="457200"/>
          </a:xfrm>
          <a:prstGeom prst="rect">
            <a:avLst/>
          </a:prstGeom>
          <a:solidFill>
            <a:srgbClr val="CC7700"/>
          </a:solidFill>
          <a:ln/>
        </p:spPr>
      </p:sp>
      <p:sp>
        <p:nvSpPr>
          <p:cNvPr id="36" name="Text 34"/>
          <p:cNvSpPr/>
          <p:nvPr/>
        </p:nvSpPr>
        <p:spPr>
          <a:xfrm>
            <a:off x="3922776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62856" y="1325880"/>
            <a:ext cx="0" cy="1371600"/>
          </a:xfrm>
          <a:prstGeom prst="line">
            <a:avLst/>
          </a:prstGeom>
          <a:noFill/>
          <a:ln w="10160">
            <a:solidFill>
              <a:srgbClr val="CC77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31336" y="329184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31336" y="3291840"/>
            <a:ext cx="54864" cy="457200"/>
          </a:xfrm>
          <a:prstGeom prst="rect">
            <a:avLst/>
          </a:prstGeom>
          <a:solidFill>
            <a:srgbClr val="CC7700"/>
          </a:solidFill>
          <a:ln/>
        </p:spPr>
      </p:sp>
      <p:sp>
        <p:nvSpPr>
          <p:cNvPr id="40" name="Text 38"/>
          <p:cNvSpPr/>
          <p:nvPr/>
        </p:nvSpPr>
        <p:spPr>
          <a:xfrm>
            <a:off x="3922776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62856" y="1325880"/>
            <a:ext cx="0" cy="1965960"/>
          </a:xfrm>
          <a:prstGeom prst="line">
            <a:avLst/>
          </a:prstGeom>
          <a:noFill/>
          <a:ln w="10160">
            <a:solidFill>
              <a:srgbClr val="CC77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41264" y="868680"/>
            <a:ext cx="1554480" cy="457200"/>
          </a:xfrm>
          <a:prstGeom prst="rect">
            <a:avLst/>
          </a:prstGeom>
          <a:solidFill>
            <a:srgbClr val="55338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41264" y="868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내정보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86984" y="150876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86984" y="1508760"/>
            <a:ext cx="54864" cy="457200"/>
          </a:xfrm>
          <a:prstGeom prst="rect">
            <a:avLst/>
          </a:prstGeom>
          <a:solidFill>
            <a:srgbClr val="553388"/>
          </a:solidFill>
          <a:ln/>
        </p:spPr>
      </p:sp>
      <p:sp>
        <p:nvSpPr>
          <p:cNvPr id="46" name="Text 44"/>
          <p:cNvSpPr/>
          <p:nvPr/>
        </p:nvSpPr>
        <p:spPr>
          <a:xfrm>
            <a:off x="5678424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18504" y="1325880"/>
            <a:ext cx="0" cy="182880"/>
          </a:xfrm>
          <a:prstGeom prst="line">
            <a:avLst/>
          </a:prstGeom>
          <a:noFill/>
          <a:ln w="10160">
            <a:solidFill>
              <a:srgbClr val="5533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86984" y="210312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86984" y="2103120"/>
            <a:ext cx="54864" cy="457200"/>
          </a:xfrm>
          <a:prstGeom prst="rect">
            <a:avLst/>
          </a:prstGeom>
          <a:solidFill>
            <a:srgbClr val="553388"/>
          </a:solidFill>
          <a:ln/>
        </p:spPr>
      </p:sp>
      <p:sp>
        <p:nvSpPr>
          <p:cNvPr id="50" name="Text 48"/>
          <p:cNvSpPr/>
          <p:nvPr/>
        </p:nvSpPr>
        <p:spPr>
          <a:xfrm>
            <a:off x="5678424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운동목표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18504" y="1325880"/>
            <a:ext cx="0" cy="777240"/>
          </a:xfrm>
          <a:prstGeom prst="line">
            <a:avLst/>
          </a:prstGeom>
          <a:noFill/>
          <a:ln w="10160">
            <a:solidFill>
              <a:srgbClr val="5533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86984" y="269748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586984" y="2697480"/>
            <a:ext cx="54864" cy="457200"/>
          </a:xfrm>
          <a:prstGeom prst="rect">
            <a:avLst/>
          </a:prstGeom>
          <a:solidFill>
            <a:srgbClr val="553388"/>
          </a:solidFill>
          <a:ln/>
        </p:spPr>
      </p:sp>
      <p:sp>
        <p:nvSpPr>
          <p:cNvPr id="54" name="Text 52"/>
          <p:cNvSpPr/>
          <p:nvPr/>
        </p:nvSpPr>
        <p:spPr>
          <a:xfrm>
            <a:off x="5678424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18504" y="1325880"/>
            <a:ext cx="0" cy="1371600"/>
          </a:xfrm>
          <a:prstGeom prst="line">
            <a:avLst/>
          </a:prstGeom>
          <a:noFill/>
          <a:ln w="10160">
            <a:solidFill>
              <a:srgbClr val="5533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86984" y="329184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86984" y="3291840"/>
            <a:ext cx="54864" cy="457200"/>
          </a:xfrm>
          <a:prstGeom prst="rect">
            <a:avLst/>
          </a:prstGeom>
          <a:solidFill>
            <a:srgbClr val="553388"/>
          </a:solidFill>
          <a:ln/>
        </p:spPr>
      </p:sp>
      <p:sp>
        <p:nvSpPr>
          <p:cNvPr id="58" name="Text 56"/>
          <p:cNvSpPr/>
          <p:nvPr/>
        </p:nvSpPr>
        <p:spPr>
          <a:xfrm>
            <a:off x="5678424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18504" y="1325880"/>
            <a:ext cx="0" cy="1965960"/>
          </a:xfrm>
          <a:prstGeom prst="line">
            <a:avLst/>
          </a:prstGeom>
          <a:noFill/>
          <a:ln w="10160">
            <a:solidFill>
              <a:srgbClr val="5533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6912" y="868680"/>
            <a:ext cx="1554480" cy="457200"/>
          </a:xfrm>
          <a:prstGeom prst="rect">
            <a:avLst/>
          </a:prstGeom>
          <a:solidFill>
            <a:srgbClr val="44556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296912" y="868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관리자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42632" y="150876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342632" y="1508760"/>
            <a:ext cx="54864" cy="457200"/>
          </a:xfrm>
          <a:prstGeom prst="rect">
            <a:avLst/>
          </a:prstGeom>
          <a:solidFill>
            <a:srgbClr val="445566"/>
          </a:solidFill>
          <a:ln/>
        </p:spPr>
      </p:sp>
      <p:sp>
        <p:nvSpPr>
          <p:cNvPr id="64" name="Text 62"/>
          <p:cNvSpPr/>
          <p:nvPr/>
        </p:nvSpPr>
        <p:spPr>
          <a:xfrm>
            <a:off x="7434072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074152" y="1325880"/>
            <a:ext cx="0" cy="182880"/>
          </a:xfrm>
          <a:prstGeom prst="line">
            <a:avLst/>
          </a:prstGeom>
          <a:noFill/>
          <a:ln w="10160">
            <a:solidFill>
              <a:srgbClr val="4455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42632" y="210312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342632" y="2103120"/>
            <a:ext cx="54864" cy="457200"/>
          </a:xfrm>
          <a:prstGeom prst="rect">
            <a:avLst/>
          </a:prstGeom>
          <a:solidFill>
            <a:srgbClr val="445566"/>
          </a:solidFill>
          <a:ln/>
        </p:spPr>
      </p:sp>
      <p:sp>
        <p:nvSpPr>
          <p:cNvPr id="68" name="Text 66"/>
          <p:cNvSpPr/>
          <p:nvPr/>
        </p:nvSpPr>
        <p:spPr>
          <a:xfrm>
            <a:off x="7434072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074152" y="1325880"/>
            <a:ext cx="0" cy="777240"/>
          </a:xfrm>
          <a:prstGeom prst="line">
            <a:avLst/>
          </a:prstGeom>
          <a:noFill/>
          <a:ln w="10160">
            <a:solidFill>
              <a:srgbClr val="4455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42632" y="269748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342632" y="2697480"/>
            <a:ext cx="54864" cy="457200"/>
          </a:xfrm>
          <a:prstGeom prst="rect">
            <a:avLst/>
          </a:prstGeom>
          <a:solidFill>
            <a:srgbClr val="445566"/>
          </a:solidFill>
          <a:ln/>
        </p:spPr>
      </p:sp>
      <p:sp>
        <p:nvSpPr>
          <p:cNvPr id="72" name="Text 70"/>
          <p:cNvSpPr/>
          <p:nvPr/>
        </p:nvSpPr>
        <p:spPr>
          <a:xfrm>
            <a:off x="7434072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074152" y="1325880"/>
            <a:ext cx="0" cy="1371600"/>
          </a:xfrm>
          <a:prstGeom prst="line">
            <a:avLst/>
          </a:prstGeom>
          <a:noFill/>
          <a:ln w="10160">
            <a:solidFill>
              <a:srgbClr val="44556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42632" y="3291840"/>
            <a:ext cx="1463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7342632" y="3291840"/>
            <a:ext cx="54864" cy="457200"/>
          </a:xfrm>
          <a:prstGeom prst="rect">
            <a:avLst/>
          </a:prstGeom>
          <a:solidFill>
            <a:srgbClr val="445566"/>
          </a:solidFill>
          <a:ln/>
        </p:spPr>
      </p:sp>
      <p:sp>
        <p:nvSpPr>
          <p:cNvPr id="76" name="Text 74"/>
          <p:cNvSpPr/>
          <p:nvPr/>
        </p:nvSpPr>
        <p:spPr>
          <a:xfrm>
            <a:off x="7434072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074152" y="1325880"/>
            <a:ext cx="0" cy="1965960"/>
          </a:xfrm>
          <a:prstGeom prst="line">
            <a:avLst/>
          </a:prstGeom>
          <a:noFill/>
          <a:ln w="10160">
            <a:solidFill>
              <a:srgbClr val="44556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member_login_01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백병구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세션 쿠키 기반 인증 사용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비밀번호는 SHA256 + HOMEFIT 솔트 해싱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로그인 실패 시 오류 메시지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withCredentials: true 필수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소셜 로그인(Google/Facebook) 지원 예정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🏋️ HomeFit                    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[이미지 영역]         로그인                     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아이디 ________________    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암호   ________________  👁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[ 로그인 ] [ 암호찾기 ] [ 신규 ]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소셜 계정으로                   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[ Google ] [ Facebook ]               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14600" y="391363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아이디 입력창 (이메일 형식)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암호 입력창 (비밀번호 토글 버튼 포함)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로그인 버튼 클릭 시 POST /api/member/login 호출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로그인 성공 시 /workout/dashboard 로 이동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암호찾기 버튼 (기능 준비 중)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신규 버튼 클릭 시 회원등록 페이지 이동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소셜 로그인 버튼 (Google / Facebook)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⑧ 로그인 실패 시 alert으로 오류 메시지 표시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회원등록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member_register_01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문정인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필수 항목: 이름, 비밀번호, 성별, 등급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비밀번호는 해시 처리 후 저장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중복 확인 필요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멤버십 등급 선택 (FREE/PREMIUM/VIP)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회원등록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회원등록                       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이름 ___________  닉네임 ___________            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이메일(ID) ___________________________           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비밀번호 ___________  성별 [남] [여]            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나이 ___  전화번호 _______________               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멤버십 등급: [FREE] [PREMIUM] [VIP]             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[ 등록하기 ]            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이름 입력창 (필수)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닉네임 입력창 (선택)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이메일 입력창 (로그인 ID로 사용, 필수)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비밀번호 입력창 (필수)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성별 선택 버튼 (남/여)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나이 입력창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전화번호 입력창 (선택)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⑧ 멤버십 등급 선택 (FREE/PREMIUM/VIP)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⑨ 등록하기 버튼 클릭 시 POST /api/member/insertMember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대시보드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workout_dashboard_01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문성윤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로그인 후에만 접근 가능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운동 기록이 없으면 빈 상태 화면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오늘의 운동 목표 기반으로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/api/workout/getWorkoutDetails 호출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대시보드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오늘의 운동                      [운동 시작하기 ▶]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─────────────────────────────────────────────────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[🏋️ 프랭크]  권장: 30초 x 2세트  정확도: --%   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[🦵 스쿼트]  권장: 20회 x 2세트  정확도: --%   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[💪 푸시업]  권장: 15회 x 3세트  정확도: --%   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[🚶 런지]    권장: 20회 x 2세트  정확도: --%   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─────────────────────────────────────────────────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이번 주 운동 현황: ● ● ● ○ ○ ○ ○               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오늘의 운동 목록 (T_WORKOUT_DETAIL 기반)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각 운동 카드: 운동명, 권장 횟수/세트, 정확도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운동 시작하기 버튼 → /workout/start 이동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이번 주 운동 현황 (7일 히스토리)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완료된 날: 초록 점, 미완료: 회색 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운동 카드 클릭 시 해당 운동 상세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로그인하지 않은 경우 /member/login 리다이렉트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시작 (AI 자세 인식)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workout_start_01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김동건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웹캠 권한 허용 필요 (react-webcam)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@mediapipe/tasks-vision 라이브러리 사용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카메라 미지원 환경에서 오류 처리 필요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운동 완료 시 POST /api/workout 로 결과 전송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시작 (AI 자세 인식)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[웹캠 화면 - 실시간 자세 인식]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🦴 스켈레톤 오버레이                      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운동: 스쿼트    횟수: 12/20               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세트: 1/2       정확도: 92%               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 ⏸ 일시정지 ]  [ ⏹ 종료 ]  [ 다음 운동 ▶ ]   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웹캠 화면 실시간 스트리밍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MediaPipe로 신체 스켈레톤 오버레이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현재 운동명 및 횟수 카운터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세트 진행 표시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AI 자세 정확도 실시간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일시정지 / 종료 / 다음 운동 버튼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운동 완료 시 포인트 적립 및 기록 저장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내역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history_state_01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백병구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기간 필터 적용 가능 (날짜 선택)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/api/workout/getWorkoutRecords 호출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데이터 없을 시 빈 상태 안내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합계 행 표시 (포인트 등)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내역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운동 내역          기간: [2026-03-01] ~ [2026-04-06]│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─────────────────────────────────────────────────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운동번호  운동일   운동명  반복횟수  세트  포인트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WOR00001 04-01   스쿼트    45회    3세트   450pt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WOR00002 04-02   푸시업    55회    3세트   550pt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WOR00003 04-03   런지      40회    2세트   400pt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─────────────────────────────────────────────────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합계                       140회   8세트  1400pt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기간 필터 (시작일 ~ 종료일)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운동 내역 테이블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컬럼: 운동번호, 운동일, 운동명, 반복횟수, 세트수, 포인트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합계 행: 반복횟수/세트/포인트 합산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행 클릭 시 상세 보기 (모달)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정렬 기능 (컬럼 클릭)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데이터 없을 시 '운동 기록이 없습니다' 안내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reward_point_01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문정인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현재 보유 포인트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포인트 적립 내역 조회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쇼핑몰 사용 포인트 차감 내역 포함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포인트 현황                    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┌─────────────────────────────────────────────┐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 🏆 현재 보유 포인트        1,200 pt        │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 📈 누적 경험치             10,000 pt       │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 ⭐ 회원 레벨               Lv.2            │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└─────────────────────────────────────────────┘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포인트 적립/사용 내역                            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04-01 운동완료 +450pt  |  03-20 쇼핑몰 -1,000pt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현재 보유 포인트 대형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누적 경험치 및 회원 레벨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포인트 적립/사용 내역 리스트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적립: 초록색 +, 사용: 빨간색 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포인트 쇼핑몰에서 사용 가능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레벨업 조건: 4500 경험치 = 1레벨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reward_achievement_01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문성윤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달성/미달성 업적 구분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진행률 퍼센트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업적 달성 시 포인트 자동 지급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업적                           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┌──────────┐  ┌──────────┐  ┌──────────┐       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✅ 첫운동  │  │ ✅ 완벽한 │  │ 🔒 주간   │       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완료     │  │   자세   │  │  챔피언  │       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100pt 달성│  │500pt 달성│  │ 진행 60% │       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└──────────┘  └──────────┘  └──────────┘       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┌──────────┐  ┌──────────┐                      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🔒 꾸준함  │  │ 🔒 100회  │                      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진행 28%  │  │  클럽   │                         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14600" y="391363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업적 카드 그리드 레이아웃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달성 업적: 컬러 + ✅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미달성 업적: 회색 + 🔒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각 카드: 업적명, 설명, 보상 포인트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진행 중인 업적: 진행률 %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업적 달성 시 포인트 자동 적립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GET /api/reward/getAchievements 호출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기록 순위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reward_ranking_01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김동건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월별 운동 횟수 기준 순위 산정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/api/reward/getRanking?from_dt=&amp;to_dt= 호출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상위 5명 게이지 바 애니메이션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현재 월 기준 자동 계산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기록 순위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운동 기록 순위          2026년 4월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#1 🥇 백병구   ████████████████████  10회       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#2 🥈 문정인   ████████████████      8회        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#3 🥉 문성윤   ████████████          6회        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#4    김동건   █████████             5회        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[🏃 달리기 GIF 애니메이션] ←───── 게이지 채움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월별 운동 기록 횟수 기준 순위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각 행: 순위, 프로필 이미지, 이름, 게이지 바, 횟수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1위: 진한 청록색 바, 2-3위: 중간, 4-5위: 연한 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게이지 바 채워지는 애니메이션 효과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아바타 옆 달리기 GIF 아이콘 이동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상위 3위 아바타 크기 차등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현재 월 자동 계산 (startOfMonth / endOfMonth)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reward_mall_01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백병구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포인트로 구매 가능한 상품 목록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/api/reward/getGoods 호출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할인율 표시 및 최종 가격 계산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상품 이미지 경로: /mallimg/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쇼핑몰                         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┌──────────┐ ┌──────────┐ ┌──────────┐ ┌────────┐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[운동매트] │ │[덤벨 세트]│ │[저항 밴드]│ │[물병]  │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10,000원  │ │ 50,000원  │ │ 20,000원  │ │ 9,000원│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할인 10% │ │  할인 20% │ │  할인 15% │ │할인 10%│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[구매하기] │ │ [구매하기]│ │ [구매하기]│ │[구매]  │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└──────────┘ └──────────┘ └──────────┘ └────────┘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보유 포인트: 1,200pt                             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상품 카드 그리드 (4열) 레이아웃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각 카드: 상품 이미지, 상품명, 원가, 할인율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할인 후 최종 가격 = 원가 × (1 - 할인율/100)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구매하기 버튼 클릭 시 포인트 차감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하단 현재 보유 포인트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포인트 부족 시 구매 불가 처리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GET /api/reward/getGoods 로 상품 목록 조회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member_profile_01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문정인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로그인한 회원의 정보만 조회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/api/member/getMember 호출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이미지 업로드 기능 추가 예정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멤버십 등급에 따라 혜택 표시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프로필                         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┌──────────────────────────────────────────────┐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[👤 프로필 이미지]  백병구 (쥐)              │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이메일: oranjes@naver.com                    │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멤버십: ⭐ PREMIUM     레벨: Lv.2            │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포인트: 1,200pt       나이: 52세             │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└──────────────────────────────────────────────┘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멤버십 혜택: 기본운동기록 / 통계생성 / 포인트2배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프로필 이미지 (원형 크롭)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회원명 및 닉네임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이메일, 멤버십 등급, 레벨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현재 보유 포인트 및 나이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멤버십 등급에 따른 혜택 목록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정보 수정 버튼 (편집 모드)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GET /api/member/me 로 세션 회원정보 조회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목표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member_plan_01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문성윤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달력 형태로 운동 계획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날짜 클릭 시 해당 날 운동 계획 등록/수정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달성 여부(Y/N) 표시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T_MEMBER_PLAN 테이블 기반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목표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운동 목표 관리          2026년 4월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┌─────────────────────────────────────────────┐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일  월  화  수  목  금  토                   │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      1  2  3  4  5  6                      │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 7  8  9  10 11 12 13  ✅ = 달성             │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│ 14 15 16 17 18 19 20  ✅✅✅ = 이번주 달성   │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└─────────────────────────────────────────────┘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[날짜 클릭] → 운동 선택 + 목표 횟수 입력        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월별 캘린더 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계획된 날: 파란 점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달성한 날: 초록 체크 표시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날짜 클릭 시 운동 목표 등록 모달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운동 선택, 목표 횟수, 단위 입력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이전/다음 월 이동 가능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⑦ GET /api/member/getMemberPlan 호출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" y="384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홈트레이닝 운동 관리 플랫폼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" y="658368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498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화면코드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member_logout_01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" y="2084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- 김동건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세션 및 JWT 쿠키 삭제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 /api/member/logout 호출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로그아웃 후 홈(/) 또는 로그인 페이지 이동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httpOnly 쿠키이므로 JS에서 직접 삭제 불가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0" y="0"/>
            <a:ext cx="6766560" cy="59436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23160" y="640080"/>
            <a:ext cx="6675120" cy="2834640"/>
          </a:xfrm>
          <a:prstGeom prst="rect">
            <a:avLst/>
          </a:prstGeom>
          <a:solidFill>
            <a:srgbClr val="F8FAFB"/>
          </a:solidFill>
          <a:ln w="1016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640080"/>
            <a:ext cx="6675120" cy="2926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65836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HomeFit    운동  |  기록  |  보상  |  내정보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98755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128016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157276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186537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로그아웃 처리 중...                     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15798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245059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세션을 종료하고 있습니다.               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274320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[ ⏳ 로딩 스피너 ]                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03580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                                        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328416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    완료 후 로그인 페이지로 이동            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6766560" cy="274320"/>
          </a:xfrm>
          <a:prstGeom prst="rect">
            <a:avLst/>
          </a:prstGeom>
          <a:solidFill>
            <a:srgbClr val="E8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5387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① 로그아웃 버튼 클릭 시 자동 처리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② POST /api/member/logout 호출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③ 서버에서 세션 삭제 및 쿠키 clear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④ 로딩 스피너 표시 (처리 중)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⑤ 완료 후 /member/login 으로 리다이렉트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⑥ 로그아웃 상태에서 보호된 페이지 접근 시 401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HomeFit 화면설계서</dc:title>
  <dc:subject>PptxGenJS Presentation</dc:subject>
  <dc:creator>PptxGenJS</dc:creator>
  <cp:lastModifiedBy>PptxGenJS</cp:lastModifiedBy>
  <cp:revision>1</cp:revision>
  <dcterms:created xsi:type="dcterms:W3CDTF">2026-04-06T07:26:16Z</dcterms:created>
  <dcterms:modified xsi:type="dcterms:W3CDTF">2026-04-06T07:26:16Z</dcterms:modified>
</cp:coreProperties>
</file>